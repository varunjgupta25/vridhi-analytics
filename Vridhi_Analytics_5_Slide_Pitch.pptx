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gupta" userId="ec385bb59a2d2b3d" providerId="LiveId" clId="{81A6CC00-7929-4CAF-9502-1099DCC7BBFA}"/>
    <pc:docChg chg="modSld">
      <pc:chgData name="varun gupta" userId="ec385bb59a2d2b3d" providerId="LiveId" clId="{81A6CC00-7929-4CAF-9502-1099DCC7BBFA}" dt="2026-08-31T08:17:09.675" v="108" actId="1076"/>
      <pc:docMkLst>
        <pc:docMk/>
      </pc:docMkLst>
      <pc:sldChg chg="modSp mod">
        <pc:chgData name="varun gupta" userId="ec385bb59a2d2b3d" providerId="LiveId" clId="{81A6CC00-7929-4CAF-9502-1099DCC7BBFA}" dt="2026-08-31T08:16:29.882" v="74" actId="20577"/>
        <pc:sldMkLst>
          <pc:docMk/>
          <pc:sldMk cId="0" sldId="256"/>
        </pc:sldMkLst>
        <pc:spChg chg="mod">
          <ac:chgData name="varun gupta" userId="ec385bb59a2d2b3d" providerId="LiveId" clId="{81A6CC00-7929-4CAF-9502-1099DCC7BBFA}" dt="2026-08-31T08:16:29.882" v="74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varun gupta" userId="ec385bb59a2d2b3d" providerId="LiveId" clId="{81A6CC00-7929-4CAF-9502-1099DCC7BBFA}" dt="2026-08-31T08:17:09.675" v="108" actId="1076"/>
        <pc:sldMkLst>
          <pc:docMk/>
          <pc:sldMk cId="0" sldId="257"/>
        </pc:sldMkLst>
        <pc:spChg chg="mod">
          <ac:chgData name="varun gupta" userId="ec385bb59a2d2b3d" providerId="LiveId" clId="{81A6CC00-7929-4CAF-9502-1099DCC7BBFA}" dt="2026-08-31T08:17:09.675" v="108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varun gupta" userId="ec385bb59a2d2b3d" providerId="LiveId" clId="{81A6CC00-7929-4CAF-9502-1099DCC7BBFA}" dt="2026-08-31T08:17:03.456" v="107" actId="1035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dark field"/>
          <p:cNvSpPr>
            <a:spLocks noGrp="1"/>
          </p:cNvSpPr>
          <p:nvPr/>
        </p:nvSpPr>
        <p:spPr>
          <a:xfrm>
            <a:off x="7334250" y="0"/>
            <a:ext cx="485775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ircle"/>
          <p:cNvSpPr>
            <a:spLocks noGrp="1"/>
          </p:cNvSpPr>
          <p:nvPr/>
        </p:nvSpPr>
        <p:spPr>
          <a:xfrm>
            <a:off x="8858250" y="1095375"/>
            <a:ext cx="2381250" cy="2381250"/>
          </a:xfrm>
          <a:prstGeom prst="roundRect">
            <a:avLst/>
          </a:prstGeom>
          <a:solidFill>
            <a:srgbClr val="00A8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kicker"/>
          <p:cNvSpPr>
            <a:spLocks noGrp="1"/>
          </p:cNvSpPr>
          <p:nvPr/>
        </p:nvSpPr>
        <p:spPr>
          <a:xfrm>
            <a:off x="609600" y="70485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RURAL FINTECH  |  EXPLAINABLE AI  |  RESPONSIBLE LENDING</a:t>
            </a:r>
            <a:endParaRPr lang="en-IN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609600" y="1428750"/>
            <a:ext cx="6191250" cy="14763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3600" b="1" dirty="0">
                <a:solidFill>
                  <a:srgbClr val="0B1F33"/>
                </a:solidFill>
                <a:latin typeface="Aptos"/>
              </a:rPr>
              <a:t>Vridhi</a:t>
            </a:r>
            <a:endParaRPr lang="en-IN"/>
          </a:p>
          <a:p>
            <a:pPr algn="l"/>
            <a:r>
              <a:rPr lang="en-IN" sz="3600" b="1" dirty="0">
                <a:solidFill>
                  <a:srgbClr val="0B1F33"/>
                </a:solidFill>
                <a:latin typeface="Aptos"/>
              </a:rPr>
              <a:t>Responsible rural credit intelligence</a:t>
            </a:r>
            <a:endParaRPr lang="en-IN"/>
          </a:p>
        </p:txBody>
      </p:sp>
      <p:sp>
        <p:nvSpPr>
          <p:cNvPr id="7" name="accent rule"/>
          <p:cNvSpPr>
            <a:spLocks noGrp="1"/>
          </p:cNvSpPr>
          <p:nvPr/>
        </p:nvSpPr>
        <p:spPr>
          <a:xfrm>
            <a:off x="609600" y="3143250"/>
            <a:ext cx="1381125" cy="381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609600" y="3524250"/>
            <a:ext cx="552450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000" b="0" dirty="0">
                <a:solidFill>
                  <a:srgbClr val="405368"/>
                </a:solidFill>
                <a:latin typeface="Aptos"/>
              </a:rPr>
              <a:t>A consent-led decision-support prototype for lenders serving rural India.</a:t>
            </a:r>
            <a:endParaRPr lang="en-IN"/>
          </a:p>
        </p:txBody>
      </p:sp>
      <p:sp>
        <p:nvSpPr>
          <p:cNvPr id="9" name="team"/>
          <p:cNvSpPr>
            <a:spLocks noGrp="1"/>
          </p:cNvSpPr>
          <p:nvPr/>
        </p:nvSpPr>
        <p:spPr>
          <a:xfrm>
            <a:off x="609600" y="5191125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500" b="0" dirty="0">
                <a:solidFill>
                  <a:srgbClr val="405368"/>
                </a:solidFill>
                <a:latin typeface="Aptos"/>
              </a:rPr>
              <a:t>Team members: </a:t>
            </a:r>
            <a:r>
              <a:rPr lang="en-IN" sz="1500" dirty="0">
                <a:solidFill>
                  <a:srgbClr val="405368"/>
                </a:solidFill>
                <a:latin typeface="Aptos"/>
              </a:rPr>
              <a:t>Varun Gupta</a:t>
            </a:r>
            <a:r>
              <a:rPr lang="en-IN" sz="1500" b="0" dirty="0">
                <a:solidFill>
                  <a:srgbClr val="405368"/>
                </a:solidFill>
                <a:latin typeface="Aptos"/>
              </a:rPr>
              <a:t>  |  </a:t>
            </a:r>
            <a:r>
              <a:rPr lang="en-IN" sz="1500" dirty="0">
                <a:solidFill>
                  <a:srgbClr val="405368"/>
                </a:solidFill>
                <a:latin typeface="Aptos"/>
              </a:rPr>
              <a:t>Aakash Gupta</a:t>
            </a:r>
            <a:r>
              <a:rPr lang="en-IN" sz="1500" b="0" dirty="0">
                <a:solidFill>
                  <a:srgbClr val="405368"/>
                </a:solidFill>
                <a:latin typeface="Aptos"/>
              </a:rPr>
              <a:t>  |  </a:t>
            </a:r>
            <a:r>
              <a:rPr lang="en-IN" sz="1500" dirty="0">
                <a:solidFill>
                  <a:srgbClr val="405368"/>
                </a:solidFill>
                <a:latin typeface="Aptos"/>
              </a:rPr>
              <a:t>Rajat Gahlot</a:t>
            </a:r>
            <a:endParaRPr lang="en-IN" dirty="0"/>
          </a:p>
        </p:txBody>
      </p:sp>
      <p:sp>
        <p:nvSpPr>
          <p:cNvPr id="10" name="domain"/>
          <p:cNvSpPr>
            <a:spLocks noGrp="1"/>
          </p:cNvSpPr>
          <p:nvPr/>
        </p:nvSpPr>
        <p:spPr>
          <a:xfrm>
            <a:off x="609600" y="5848350"/>
            <a:ext cx="5619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6D7A87"/>
                </a:solidFill>
                <a:latin typeface="Aptos"/>
              </a:rPr>
              <a:t>Niche / Domain: Rural FinTech | Credit Risk | Ethical AI</a:t>
            </a:r>
            <a:endParaRPr lang="en-IN"/>
          </a:p>
        </p:txBody>
      </p:sp>
      <p:sp>
        <p:nvSpPr>
          <p:cNvPr id="11" name="promise"/>
          <p:cNvSpPr>
            <a:spLocks noGrp="1"/>
          </p:cNvSpPr>
          <p:nvPr/>
        </p:nvSpPr>
        <p:spPr>
          <a:xfrm>
            <a:off x="7762875" y="5286375"/>
            <a:ext cx="3476625" cy="5238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000" b="1" dirty="0">
                <a:solidFill>
                  <a:srgbClr val="FFFFFF"/>
                </a:solidFill>
                <a:latin typeface="Aptos"/>
              </a:rPr>
              <a:t>Built for trust,</a:t>
            </a:r>
            <a:endParaRPr lang="en-IN"/>
          </a:p>
          <a:p>
            <a:pPr algn="l"/>
            <a:r>
              <a:rPr lang="en-IN" sz="2000" b="1" dirty="0">
                <a:solidFill>
                  <a:srgbClr val="FFFFFF"/>
                </a:solidFill>
                <a:latin typeface="Aptos"/>
              </a:rPr>
              <a:t>not black-box lending.</a:t>
            </a:r>
            <a:endParaRPr lang="en-IN"/>
          </a:p>
        </p:txBody>
      </p:sp>
      <p:sp>
        <p:nvSpPr>
          <p:cNvPr id="12" name="source"/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900" b="0" dirty="0">
                <a:solidFill>
                  <a:srgbClr val="6D7A87"/>
                </a:solidFill>
                <a:latin typeface="Aptos"/>
              </a:rPr>
              <a:t>Editable PowerPoint: replace team-name placeholders directly in PowerPoint.</a:t>
            </a:r>
            <a:endParaRPr lang="en-IN"/>
          </a:p>
        </p:txBody>
      </p:sp>
      <p:sp>
        <p:nvSpPr>
          <p:cNvPr id="13" name="slide number"/>
          <p:cNvSpPr>
            <a:spLocks noGrp="1"/>
          </p:cNvSpPr>
          <p:nvPr/>
        </p:nvSpPr>
        <p:spPr>
          <a:xfrm>
            <a:off x="11334750" y="6438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000" b="1" dirty="0">
                <a:solidFill>
                  <a:srgbClr val="6D7A87"/>
                </a:solidFill>
                <a:latin typeface="Aptos"/>
              </a:rPr>
              <a:t>1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/>
        </p:nvSpPr>
        <p:spPr>
          <a:xfrm>
            <a:off x="457200" y="476250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THE PROBLEM</a:t>
            </a:r>
            <a:endParaRPr lang="en-IN"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388374" y="1047750"/>
            <a:ext cx="904875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3000" b="1" dirty="0">
                <a:solidFill>
                  <a:srgbClr val="0B1F33"/>
                </a:solidFill>
                <a:latin typeface="Aptos"/>
              </a:rPr>
              <a:t>Rural credit decisions need more contextâ€”and more accountability.</a:t>
            </a:r>
            <a:endParaRPr lang="en-IN" dirty="0"/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457200" y="892587"/>
            <a:ext cx="1571625" cy="28575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paragraph 1"/>
          <p:cNvSpPr>
            <a:spLocks noGrp="1"/>
          </p:cNvSpPr>
          <p:nvPr/>
        </p:nvSpPr>
        <p:spPr>
          <a:xfrm>
            <a:off x="457200" y="2095500"/>
            <a:ext cx="5286375" cy="14763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800" b="0" dirty="0">
                <a:solidFill>
                  <a:srgbClr val="405368"/>
                </a:solidFill>
                <a:latin typeface="Aptos"/>
              </a:rPr>
              <a:t>Farm incomes are seasonal, exposed to local climate stress, and distributed across cash and digital channels. A static credit snapshot can miss the context behind a repayment patternâ€”creating blind spots for lenders and borrowers.</a:t>
            </a:r>
            <a:endParaRPr lang="en-IN"/>
          </a:p>
        </p:txBody>
      </p:sp>
      <p:sp>
        <p:nvSpPr>
          <p:cNvPr id="6" name="paragraph 2"/>
          <p:cNvSpPr>
            <a:spLocks noGrp="1"/>
          </p:cNvSpPr>
          <p:nvPr/>
        </p:nvSpPr>
        <p:spPr>
          <a:xfrm>
            <a:off x="457200" y="3905250"/>
            <a:ext cx="5286375" cy="14763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800" b="0" dirty="0">
                <a:solidFill>
                  <a:srgbClr val="405368"/>
                </a:solidFill>
                <a:latin typeface="Aptos"/>
              </a:rPr>
              <a:t>Financial data sharing is becoming consent-led and interoperable. The opportunity is not automatic approval; it is a clearer manual-review process that makes uncertainty visible and keeps a human accountable.</a:t>
            </a:r>
            <a:endParaRPr lang="en-IN"/>
          </a:p>
        </p:txBody>
      </p:sp>
      <p:sp>
        <p:nvSpPr>
          <p:cNvPr id="7" name="evidence panel"/>
          <p:cNvSpPr>
            <a:spLocks noGrp="1"/>
          </p:cNvSpPr>
          <p:nvPr/>
        </p:nvSpPr>
        <p:spPr>
          <a:xfrm>
            <a:off x="6381750" y="2019300"/>
            <a:ext cx="5048250" cy="3429000"/>
          </a:xfrm>
          <a:prstGeom prst="roundRect">
            <a:avLst/>
          </a:prstGeom>
          <a:solidFill>
            <a:srgbClr val="F1F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why now"/>
          <p:cNvSpPr>
            <a:spLocks noGrp="1"/>
          </p:cNvSpPr>
          <p:nvPr/>
        </p:nvSpPr>
        <p:spPr>
          <a:xfrm>
            <a:off x="6743700" y="2381250"/>
            <a:ext cx="2286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WHY NOW</a:t>
            </a:r>
            <a:endParaRPr lang="en-IN"/>
          </a:p>
        </p:txBody>
      </p:sp>
      <p:sp>
        <p:nvSpPr>
          <p:cNvPr id="9" name="upi metric"/>
          <p:cNvSpPr>
            <a:spLocks noGrp="1"/>
          </p:cNvSpPr>
          <p:nvPr/>
        </p:nvSpPr>
        <p:spPr>
          <a:xfrm>
            <a:off x="6743700" y="2857500"/>
            <a:ext cx="2476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4000" b="1" dirty="0">
                <a:solidFill>
                  <a:srgbClr val="0B1F33"/>
                </a:solidFill>
                <a:latin typeface="Aptos"/>
              </a:rPr>
              <a:t>22.7B</a:t>
            </a:r>
            <a:endParaRPr lang="en-IN"/>
          </a:p>
        </p:txBody>
      </p:sp>
      <p:sp>
        <p:nvSpPr>
          <p:cNvPr id="10" name="upi label"/>
          <p:cNvSpPr>
            <a:spLocks noGrp="1"/>
          </p:cNvSpPr>
          <p:nvPr/>
        </p:nvSpPr>
        <p:spPr>
          <a:xfrm>
            <a:off x="6743700" y="3476625"/>
            <a:ext cx="40005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600" b="0" dirty="0">
                <a:solidFill>
                  <a:srgbClr val="405368"/>
                </a:solidFill>
                <a:latin typeface="Aptos"/>
              </a:rPr>
              <a:t>UPI transactions in India, June 2026</a:t>
            </a:r>
            <a:endParaRPr lang="en-IN"/>
          </a:p>
        </p:txBody>
      </p:sp>
      <p:sp>
        <p:nvSpPr>
          <p:cNvPr id="11" name="aa metric"/>
          <p:cNvSpPr>
            <a:spLocks noGrp="1"/>
          </p:cNvSpPr>
          <p:nvPr/>
        </p:nvSpPr>
        <p:spPr>
          <a:xfrm>
            <a:off x="6743700" y="4238625"/>
            <a:ext cx="2476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800" b="1" dirty="0">
                <a:solidFill>
                  <a:srgbClr val="0B1F33"/>
                </a:solidFill>
                <a:latin typeface="Aptos"/>
              </a:rPr>
              <a:t>10M+</a:t>
            </a:r>
            <a:endParaRPr lang="en-IN"/>
          </a:p>
        </p:txBody>
      </p:sp>
      <p:sp>
        <p:nvSpPr>
          <p:cNvPr id="12" name="aa label"/>
          <p:cNvSpPr>
            <a:spLocks noGrp="1"/>
          </p:cNvSpPr>
          <p:nvPr/>
        </p:nvSpPr>
        <p:spPr>
          <a:xfrm>
            <a:off x="6743700" y="4686300"/>
            <a:ext cx="40957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500" b="0" dirty="0">
                <a:solidFill>
                  <a:srgbClr val="405368"/>
                </a:solidFill>
                <a:latin typeface="Aptos"/>
              </a:rPr>
              <a:t>monthly AA consents in the consent-based financial-data ecosystem</a:t>
            </a:r>
            <a:endParaRPr lang="en-IN"/>
          </a:p>
        </p:txBody>
      </p:sp>
      <p:sp>
        <p:nvSpPr>
          <p:cNvPr id="13" name="source"/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900" b="0" dirty="0">
                <a:solidFill>
                  <a:srgbClr val="6D7A87"/>
                </a:solidFill>
                <a:latin typeface="Aptos"/>
              </a:rPr>
              <a:t>Sources: NPCI UPI Product Statistics (Jun 2026); Sahamati AA Statement (13 Feb 2025); RBI Digital Lending Guidelines (2022).</a:t>
            </a:r>
            <a:endParaRPr lang="en-IN"/>
          </a:p>
        </p:txBody>
      </p:sp>
      <p:sp>
        <p:nvSpPr>
          <p:cNvPr id="14" name="slide number"/>
          <p:cNvSpPr>
            <a:spLocks noGrp="1"/>
          </p:cNvSpPr>
          <p:nvPr/>
        </p:nvSpPr>
        <p:spPr>
          <a:xfrm>
            <a:off x="11334750" y="6438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000" b="1" dirty="0">
                <a:solidFill>
                  <a:srgbClr val="6D7A87"/>
                </a:solidFill>
                <a:latin typeface="Aptos"/>
              </a:rPr>
              <a:t>2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/>
        </p:nvSpPr>
        <p:spPr>
          <a:xfrm>
            <a:off x="457200" y="476250"/>
            <a:ext cx="428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OUR SOLUTION</a:t>
            </a:r>
            <a:endParaRPr lang="en-IN"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876300"/>
            <a:ext cx="1057275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3000" b="1" dirty="0">
                <a:solidFill>
                  <a:srgbClr val="0B1F33"/>
                </a:solidFill>
                <a:latin typeface="Aptos"/>
              </a:rPr>
              <a:t>Vridhi turns consented signals into explainable review support.</a:t>
            </a:r>
            <a:endParaRPr lang="en-IN"/>
          </a:p>
        </p:txBody>
      </p:sp>
      <p:sp>
        <p:nvSpPr>
          <p:cNvPr id="4" name="intro"/>
          <p:cNvSpPr>
            <a:spLocks noGrp="1"/>
          </p:cNvSpPr>
          <p:nvPr/>
        </p:nvSpPr>
        <p:spPr>
          <a:xfrm>
            <a:off x="457200" y="1619250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600" b="0" dirty="0">
                <a:solidFill>
                  <a:srgbClr val="405368"/>
                </a:solidFill>
                <a:latin typeface="Aptos"/>
              </a:rPr>
              <a:t>A four-step workflow that puts context, explanation, and safeguards in one lender-facing view.</a:t>
            </a:r>
            <a:endParaRPr lang="en-IN"/>
          </a:p>
        </p:txBody>
      </p:sp>
      <p:sp>
        <p:nvSpPr>
          <p:cNvPr id="5" name="step panel"/>
          <p:cNvSpPr>
            <a:spLocks noGrp="1"/>
          </p:cNvSpPr>
          <p:nvPr/>
        </p:nvSpPr>
        <p:spPr>
          <a:xfrm>
            <a:off x="457200" y="2571750"/>
            <a:ext cx="2381250" cy="2305050"/>
          </a:xfrm>
          <a:prstGeom prst="roundRect">
            <a:avLst/>
          </a:prstGeom>
          <a:solidFill>
            <a:srgbClr val="EAF7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tep title"/>
          <p:cNvSpPr>
            <a:spLocks noGrp="1"/>
          </p:cNvSpPr>
          <p:nvPr/>
        </p:nvSpPr>
        <p:spPr>
          <a:xfrm>
            <a:off x="666750" y="2876550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800" b="1" dirty="0">
                <a:solidFill>
                  <a:srgbClr val="0B1F33"/>
                </a:solidFill>
                <a:latin typeface="Aptos"/>
              </a:rPr>
              <a:t>01  Consent first</a:t>
            </a:r>
            <a:endParaRPr lang="en-IN"/>
          </a:p>
        </p:txBody>
      </p:sp>
      <p:sp>
        <p:nvSpPr>
          <p:cNvPr id="7" name="step body"/>
          <p:cNvSpPr>
            <a:spLocks noGrp="1"/>
          </p:cNvSpPr>
          <p:nvPr/>
        </p:nvSpPr>
        <p:spPr>
          <a:xfrm>
            <a:off x="666750" y="3714750"/>
            <a:ext cx="2000250" cy="8096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0" dirty="0">
                <a:solidFill>
                  <a:srgbClr val="405368"/>
                </a:solidFill>
                <a:latin typeface="Aptos"/>
              </a:rPr>
              <a:t>Purpose-limited, revocable data access.</a:t>
            </a:r>
            <a:endParaRPr lang="en-IN"/>
          </a:p>
        </p:txBody>
      </p:sp>
      <p:sp>
        <p:nvSpPr>
          <p:cNvPr id="8" name="step panel"/>
          <p:cNvSpPr>
            <a:spLocks noGrp="1"/>
          </p:cNvSpPr>
          <p:nvPr/>
        </p:nvSpPr>
        <p:spPr>
          <a:xfrm>
            <a:off x="3286125" y="2571750"/>
            <a:ext cx="2381250" cy="230505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tep title"/>
          <p:cNvSpPr>
            <a:spLocks noGrp="1"/>
          </p:cNvSpPr>
          <p:nvPr/>
        </p:nvSpPr>
        <p:spPr>
          <a:xfrm>
            <a:off x="3495675" y="2876550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800" b="1" dirty="0">
                <a:solidFill>
                  <a:srgbClr val="0B1F33"/>
                </a:solidFill>
                <a:latin typeface="Aptos"/>
              </a:rPr>
              <a:t>02  Contextual signals</a:t>
            </a:r>
            <a:endParaRPr lang="en-IN"/>
          </a:p>
        </p:txBody>
      </p:sp>
      <p:sp>
        <p:nvSpPr>
          <p:cNvPr id="10" name="step body"/>
          <p:cNvSpPr>
            <a:spLocks noGrp="1"/>
          </p:cNvSpPr>
          <p:nvPr/>
        </p:nvSpPr>
        <p:spPr>
          <a:xfrm>
            <a:off x="3495675" y="3714750"/>
            <a:ext cx="2000250" cy="8096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0" dirty="0">
                <a:solidFill>
                  <a:srgbClr val="405368"/>
                </a:solidFill>
                <a:latin typeface="Aptos"/>
              </a:rPr>
              <a:t>Cash flow, repayment stress, climate scenario and network context.</a:t>
            </a:r>
            <a:endParaRPr lang="en-IN"/>
          </a:p>
        </p:txBody>
      </p:sp>
      <p:sp>
        <p:nvSpPr>
          <p:cNvPr id="11" name="step panel"/>
          <p:cNvSpPr>
            <a:spLocks noGrp="1"/>
          </p:cNvSpPr>
          <p:nvPr/>
        </p:nvSpPr>
        <p:spPr>
          <a:xfrm>
            <a:off x="6115050" y="2571750"/>
            <a:ext cx="2381250" cy="2305050"/>
          </a:xfrm>
          <a:prstGeom prst="roundRect">
            <a:avLst/>
          </a:prstGeom>
          <a:solidFill>
            <a:srgbClr val="EAF7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tep title"/>
          <p:cNvSpPr>
            <a:spLocks noGrp="1"/>
          </p:cNvSpPr>
          <p:nvPr/>
        </p:nvSpPr>
        <p:spPr>
          <a:xfrm>
            <a:off x="6324600" y="2876550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800" b="1" dirty="0">
                <a:solidFill>
                  <a:srgbClr val="0B1F33"/>
                </a:solidFill>
                <a:latin typeface="Aptos"/>
              </a:rPr>
              <a:t>03  Explainable score</a:t>
            </a:r>
            <a:endParaRPr lang="en-IN"/>
          </a:p>
        </p:txBody>
      </p:sp>
      <p:sp>
        <p:nvSpPr>
          <p:cNvPr id="13" name="step body"/>
          <p:cNvSpPr>
            <a:spLocks noGrp="1"/>
          </p:cNvSpPr>
          <p:nvPr/>
        </p:nvSpPr>
        <p:spPr>
          <a:xfrm>
            <a:off x="6324600" y="3714750"/>
            <a:ext cx="2000250" cy="8096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0" dirty="0">
                <a:solidFill>
                  <a:srgbClr val="405368"/>
                </a:solidFill>
                <a:latin typeface="Aptos"/>
              </a:rPr>
              <a:t>Calibrated risk recommendation with clear feature contributions.</a:t>
            </a:r>
            <a:endParaRPr lang="en-IN"/>
          </a:p>
        </p:txBody>
      </p:sp>
      <p:sp>
        <p:nvSpPr>
          <p:cNvPr id="14" name="step panel"/>
          <p:cNvSpPr>
            <a:spLocks noGrp="1"/>
          </p:cNvSpPr>
          <p:nvPr/>
        </p:nvSpPr>
        <p:spPr>
          <a:xfrm>
            <a:off x="8943975" y="2571750"/>
            <a:ext cx="2381250" cy="230505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tep title"/>
          <p:cNvSpPr>
            <a:spLocks noGrp="1"/>
          </p:cNvSpPr>
          <p:nvPr/>
        </p:nvSpPr>
        <p:spPr>
          <a:xfrm>
            <a:off x="9153525" y="2876550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800" b="1" dirty="0">
                <a:solidFill>
                  <a:srgbClr val="0B1F33"/>
                </a:solidFill>
                <a:latin typeface="Aptos"/>
              </a:rPr>
              <a:t>04  Human decision</a:t>
            </a:r>
            <a:endParaRPr lang="en-IN"/>
          </a:p>
        </p:txBody>
      </p:sp>
      <p:sp>
        <p:nvSpPr>
          <p:cNvPr id="16" name="step body"/>
          <p:cNvSpPr>
            <a:spLocks noGrp="1"/>
          </p:cNvSpPr>
          <p:nvPr/>
        </p:nvSpPr>
        <p:spPr>
          <a:xfrm>
            <a:off x="9153525" y="3714750"/>
            <a:ext cx="2000250" cy="8096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0" dirty="0">
                <a:solidFill>
                  <a:srgbClr val="405368"/>
                </a:solidFill>
                <a:latin typeface="Aptos"/>
              </a:rPr>
              <a:t>Manual review, borrower explanation and audit record.</a:t>
            </a:r>
            <a:endParaRPr lang="en-IN"/>
          </a:p>
        </p:txBody>
      </p:sp>
      <p:sp>
        <p:nvSpPr>
          <p:cNvPr id="17" name="guardrail"/>
          <p:cNvSpPr>
            <a:spLocks noGrp="1"/>
          </p:cNvSpPr>
          <p:nvPr/>
        </p:nvSpPr>
        <p:spPr>
          <a:xfrm>
            <a:off x="457200" y="5381625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600" b="1" dirty="0">
                <a:solidFill>
                  <a:srgbClr val="0B1F33"/>
                </a:solidFill>
                <a:latin typeface="Aptos"/>
              </a:rPr>
              <a:t>Guardrail: Vridhi never automatically approves, declines, or prices a loan. Every recommendation remains manual-review required.</a:t>
            </a:r>
            <a:endParaRPr lang="en-IN"/>
          </a:p>
        </p:txBody>
      </p:sp>
      <p:sp>
        <p:nvSpPr>
          <p:cNvPr id="18" name="source"/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900" b="0" dirty="0">
                <a:solidFill>
                  <a:srgbClr val="6D7A87"/>
                </a:solidFill>
                <a:latin typeface="Aptos"/>
              </a:rPr>
              <a:t>Source: Vridhi project documentation and prototype controls (synthetic research only).</a:t>
            </a:r>
            <a:endParaRPr lang="en-IN"/>
          </a:p>
        </p:txBody>
      </p:sp>
      <p:sp>
        <p:nvSpPr>
          <p:cNvPr id="19" name="slide number"/>
          <p:cNvSpPr>
            <a:spLocks noGrp="1"/>
          </p:cNvSpPr>
          <p:nvPr/>
        </p:nvSpPr>
        <p:spPr>
          <a:xfrm>
            <a:off x="11334750" y="6438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000" b="1" dirty="0">
                <a:solidFill>
                  <a:srgbClr val="6D7A87"/>
                </a:solidFill>
                <a:latin typeface="Aptos"/>
              </a:rPr>
              <a:t>3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/>
        </p:nvSpPr>
        <p:spPr>
          <a:xfrm>
            <a:off x="457200" y="476250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TECHNOLOGY &amp; ARCHITECTURE</a:t>
            </a:r>
            <a:endParaRPr lang="en-IN"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876300"/>
            <a:ext cx="1095375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3000" b="1" dirty="0">
                <a:solidFill>
                  <a:srgbClr val="0B1F33"/>
                </a:solidFill>
                <a:latin typeface="Aptos"/>
              </a:rPr>
              <a:t>An architecture designed around privacy, explainability, and control.</a:t>
            </a:r>
            <a:endParaRPr lang="en-IN"/>
          </a:p>
        </p:txBody>
      </p:sp>
      <p:sp>
        <p:nvSpPr>
          <p:cNvPr id="4" name="stack"/>
          <p:cNvSpPr>
            <a:spLocks noGrp="1"/>
          </p:cNvSpPr>
          <p:nvPr/>
        </p:nvSpPr>
        <p:spPr>
          <a:xfrm>
            <a:off x="457200" y="166687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0" dirty="0">
                <a:solidFill>
                  <a:srgbClr val="405368"/>
                </a:solidFill>
                <a:latin typeface="Aptos"/>
              </a:rPr>
              <a:t>Python | FastAPI | XGBoost | GraphSAGE research candidate | Redis | SQLite | Fernet | Docker | MLflow | Tailwind</a:t>
            </a:r>
            <a:endParaRPr lang="en-IN"/>
          </a:p>
        </p:txBody>
      </p:sp>
      <p:sp>
        <p:nvSpPr>
          <p:cNvPr id="5" name="architecture panel"/>
          <p:cNvSpPr>
            <a:spLocks noGrp="1"/>
          </p:cNvSpPr>
          <p:nvPr/>
        </p:nvSpPr>
        <p:spPr>
          <a:xfrm>
            <a:off x="533400" y="2724150"/>
            <a:ext cx="2333625" cy="1809750"/>
          </a:xfrm>
          <a:prstGeom prst="roundRect">
            <a:avLst/>
          </a:prstGeom>
          <a:solidFill>
            <a:srgbClr val="EAF7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architecture title"/>
          <p:cNvSpPr>
            <a:spLocks noGrp="1"/>
          </p:cNvSpPr>
          <p:nvPr/>
        </p:nvSpPr>
        <p:spPr>
          <a:xfrm>
            <a:off x="723900" y="29718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700" b="1" dirty="0">
                <a:solidFill>
                  <a:srgbClr val="0B1F33"/>
                </a:solidFill>
                <a:latin typeface="Aptos"/>
              </a:rPr>
              <a:t>Synthetic rural economy</a:t>
            </a:r>
            <a:endParaRPr lang="en-IN"/>
          </a:p>
        </p:txBody>
      </p:sp>
      <p:sp>
        <p:nvSpPr>
          <p:cNvPr id="7" name="architecture body"/>
          <p:cNvSpPr>
            <a:spLocks noGrp="1"/>
          </p:cNvSpPr>
          <p:nvPr/>
        </p:nvSpPr>
        <p:spPr>
          <a:xfrm>
            <a:off x="723900" y="3619500"/>
            <a:ext cx="1952625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0" dirty="0">
                <a:solidFill>
                  <a:srgbClr val="405368"/>
                </a:solidFill>
                <a:latin typeface="Aptos"/>
              </a:rPr>
              <a:t>Farmers, kiranas, wholesalers, utilities and climate shocks</a:t>
            </a:r>
            <a:endParaRPr lang="en-IN"/>
          </a:p>
        </p:txBody>
      </p:sp>
      <p:sp>
        <p:nvSpPr>
          <p:cNvPr id="8" name="architecture panel"/>
          <p:cNvSpPr>
            <a:spLocks noGrp="1"/>
          </p:cNvSpPr>
          <p:nvPr/>
        </p:nvSpPr>
        <p:spPr>
          <a:xfrm>
            <a:off x="3333750" y="2724150"/>
            <a:ext cx="2333625" cy="180975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architecture title"/>
          <p:cNvSpPr>
            <a:spLocks noGrp="1"/>
          </p:cNvSpPr>
          <p:nvPr/>
        </p:nvSpPr>
        <p:spPr>
          <a:xfrm>
            <a:off x="3524250" y="29718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700" b="1" dirty="0">
                <a:solidFill>
                  <a:srgbClr val="0B1F33"/>
                </a:solidFill>
                <a:latin typeface="Aptos"/>
              </a:rPr>
              <a:t>Risk &amp; explanation layer</a:t>
            </a:r>
            <a:endParaRPr lang="en-IN"/>
          </a:p>
        </p:txBody>
      </p:sp>
      <p:sp>
        <p:nvSpPr>
          <p:cNvPr id="10" name="architecture body"/>
          <p:cNvSpPr>
            <a:spLocks noGrp="1"/>
          </p:cNvSpPr>
          <p:nvPr/>
        </p:nvSpPr>
        <p:spPr>
          <a:xfrm>
            <a:off x="3524250" y="3619500"/>
            <a:ext cx="1952625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0" dirty="0">
                <a:solidFill>
                  <a:srgbClr val="405368"/>
                </a:solidFill>
                <a:latin typeface="Aptos"/>
              </a:rPr>
              <a:t>Point-in-time XGBoost + TreeSHAP; GraphSAGE is validation-gated</a:t>
            </a:r>
            <a:endParaRPr lang="en-IN"/>
          </a:p>
        </p:txBody>
      </p:sp>
      <p:sp>
        <p:nvSpPr>
          <p:cNvPr id="11" name="architecture panel"/>
          <p:cNvSpPr>
            <a:spLocks noGrp="1"/>
          </p:cNvSpPr>
          <p:nvPr/>
        </p:nvSpPr>
        <p:spPr>
          <a:xfrm>
            <a:off x="6134100" y="2724150"/>
            <a:ext cx="2333625" cy="1809750"/>
          </a:xfrm>
          <a:prstGeom prst="roundRect">
            <a:avLst/>
          </a:prstGeom>
          <a:solidFill>
            <a:srgbClr val="EAF7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architecture title"/>
          <p:cNvSpPr>
            <a:spLocks noGrp="1"/>
          </p:cNvSpPr>
          <p:nvPr/>
        </p:nvSpPr>
        <p:spPr>
          <a:xfrm>
            <a:off x="6324600" y="29718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700" b="1" dirty="0">
                <a:solidFill>
                  <a:srgbClr val="0B1F33"/>
                </a:solidFill>
                <a:latin typeface="Aptos"/>
              </a:rPr>
              <a:t>Secure service layer</a:t>
            </a:r>
            <a:endParaRPr lang="en-IN"/>
          </a:p>
        </p:txBody>
      </p:sp>
      <p:sp>
        <p:nvSpPr>
          <p:cNvPr id="13" name="architecture body"/>
          <p:cNvSpPr>
            <a:spLocks noGrp="1"/>
          </p:cNvSpPr>
          <p:nvPr/>
        </p:nvSpPr>
        <p:spPr>
          <a:xfrm>
            <a:off x="6324600" y="3619500"/>
            <a:ext cx="1952625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0" dirty="0">
                <a:solidFill>
                  <a:srgbClr val="405368"/>
                </a:solidFill>
                <a:latin typeface="Aptos"/>
              </a:rPr>
              <a:t>FastAPI, encrypted payloads, consent records, RBAC and Redis streams</a:t>
            </a:r>
            <a:endParaRPr lang="en-IN"/>
          </a:p>
        </p:txBody>
      </p:sp>
      <p:sp>
        <p:nvSpPr>
          <p:cNvPr id="14" name="architecture panel"/>
          <p:cNvSpPr>
            <a:spLocks noGrp="1"/>
          </p:cNvSpPr>
          <p:nvPr/>
        </p:nvSpPr>
        <p:spPr>
          <a:xfrm>
            <a:off x="8934450" y="2724150"/>
            <a:ext cx="2333625" cy="180975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architecture title"/>
          <p:cNvSpPr>
            <a:spLocks noGrp="1"/>
          </p:cNvSpPr>
          <p:nvPr/>
        </p:nvSpPr>
        <p:spPr>
          <a:xfrm>
            <a:off x="9124950" y="297180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700" b="1" dirty="0">
                <a:solidFill>
                  <a:srgbClr val="0B1F33"/>
                </a:solidFill>
                <a:latin typeface="Aptos"/>
              </a:rPr>
              <a:t>Human-facing tools</a:t>
            </a:r>
            <a:endParaRPr lang="en-IN"/>
          </a:p>
        </p:txBody>
      </p:sp>
      <p:sp>
        <p:nvSpPr>
          <p:cNvPr id="16" name="architecture body"/>
          <p:cNvSpPr>
            <a:spLocks noGrp="1"/>
          </p:cNvSpPr>
          <p:nvPr/>
        </p:nvSpPr>
        <p:spPr>
          <a:xfrm>
            <a:off x="9124950" y="3619500"/>
            <a:ext cx="1952625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0" dirty="0">
                <a:solidFill>
                  <a:srgbClr val="405368"/>
                </a:solidFill>
                <a:latin typeface="Aptos"/>
              </a:rPr>
              <a:t>Lender desk, borrower assistant, multilingual explanation and audit trail</a:t>
            </a:r>
            <a:endParaRPr lang="en-IN"/>
          </a:p>
        </p:txBody>
      </p:sp>
      <p:sp>
        <p:nvSpPr>
          <p:cNvPr id="17" name="controls"/>
          <p:cNvSpPr>
            <a:spLocks noGrp="1"/>
          </p:cNvSpPr>
          <p:nvPr/>
        </p:nvSpPr>
        <p:spPr>
          <a:xfrm>
            <a:off x="533400" y="5219700"/>
            <a:ext cx="10725150" cy="68580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ontrols label"/>
          <p:cNvSpPr>
            <a:spLocks noGrp="1"/>
          </p:cNvSpPr>
          <p:nvPr/>
        </p:nvSpPr>
        <p:spPr>
          <a:xfrm>
            <a:off x="781050" y="5429250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200" b="1" dirty="0">
                <a:solidFill>
                  <a:srgbClr val="6DD6B0"/>
                </a:solidFill>
                <a:latin typeface="Aptos"/>
              </a:rPr>
              <a:t>NON-NEGOTIABLE CONTROLS</a:t>
            </a:r>
            <a:endParaRPr lang="en-IN"/>
          </a:p>
        </p:txBody>
      </p:sp>
      <p:sp>
        <p:nvSpPr>
          <p:cNvPr id="19" name="controls list"/>
          <p:cNvSpPr>
            <a:spLocks noGrp="1"/>
          </p:cNvSpPr>
          <p:nvPr/>
        </p:nvSpPr>
        <p:spPr>
          <a:xfrm>
            <a:off x="3143250" y="5381625"/>
            <a:ext cx="77152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1" dirty="0">
                <a:solidFill>
                  <a:srgbClr val="FFFFFF"/>
                </a:solidFill>
                <a:latin typeface="Aptos"/>
              </a:rPr>
              <a:t>Consent &amp; revocation  |  Human underwriter  |  Audit ledger  |  Drift monitoring  |  Kill switch  |  Controlled rollout</a:t>
            </a:r>
            <a:endParaRPr lang="en-IN"/>
          </a:p>
        </p:txBody>
      </p:sp>
      <p:sp>
        <p:nvSpPr>
          <p:cNvPr id="20" name="source"/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900" b="0" dirty="0">
                <a:solidFill>
                  <a:srgbClr val="6D7A87"/>
                </a:solidFill>
                <a:latin typeface="Aptos"/>
              </a:rPr>
              <a:t>Source: Vridhi repository README, context.md, and architecture artifacts (synthetic prototype).</a:t>
            </a:r>
            <a:endParaRPr lang="en-IN"/>
          </a:p>
        </p:txBody>
      </p:sp>
      <p:sp>
        <p:nvSpPr>
          <p:cNvPr id="21" name="slide number"/>
          <p:cNvSpPr>
            <a:spLocks noGrp="1"/>
          </p:cNvSpPr>
          <p:nvPr/>
        </p:nvSpPr>
        <p:spPr>
          <a:xfrm>
            <a:off x="11334750" y="6438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000" b="1" dirty="0">
                <a:solidFill>
                  <a:srgbClr val="6D7A87"/>
                </a:solidFill>
                <a:latin typeface="Aptos"/>
              </a:rPr>
              <a:t>4</a:t>
            </a:r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/>
        </p:nvSpPr>
        <p:spPr>
          <a:xfrm>
            <a:off x="457200" y="476250"/>
            <a:ext cx="428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MONETISATION</a:t>
            </a:r>
            <a:endParaRPr lang="en-IN"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8763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3000" b="1" dirty="0">
                <a:solidFill>
                  <a:srgbClr val="0B1F33"/>
                </a:solidFill>
                <a:latin typeface="Aptos"/>
              </a:rPr>
              <a:t>A B2B SaaS model that grows with lender usage.</a:t>
            </a:r>
            <a:endParaRPr lang="en-IN"/>
          </a:p>
        </p:txBody>
      </p:sp>
      <p:sp>
        <p:nvSpPr>
          <p:cNvPr id="4" name="intro"/>
          <p:cNvSpPr>
            <a:spLocks noGrp="1"/>
          </p:cNvSpPr>
          <p:nvPr/>
        </p:nvSpPr>
        <p:spPr>
          <a:xfrm>
            <a:off x="457200" y="1619250"/>
            <a:ext cx="10001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600" b="0" dirty="0">
                <a:solidFill>
                  <a:srgbClr val="405368"/>
                </a:solidFill>
                <a:latin typeface="Aptos"/>
              </a:rPr>
              <a:t>Vridhi is sold to regulated lendersâ€”not directly to borrowersâ€”so the commercial model aligns with governance, integrations, and underwriting workflows.</a:t>
            </a:r>
            <a:endParaRPr lang="en-IN"/>
          </a:p>
        </p:txBody>
      </p:sp>
      <p:sp>
        <p:nvSpPr>
          <p:cNvPr id="5" name="pricing panel"/>
          <p:cNvSpPr>
            <a:spLocks noGrp="1"/>
          </p:cNvSpPr>
          <p:nvPr/>
        </p:nvSpPr>
        <p:spPr>
          <a:xfrm>
            <a:off x="457200" y="2524125"/>
            <a:ext cx="3333750" cy="2724150"/>
          </a:xfrm>
          <a:prstGeom prst="roundRect">
            <a:avLst/>
          </a:prstGeom>
          <a:solidFill>
            <a:srgbClr val="EAF7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pricing title"/>
          <p:cNvSpPr>
            <a:spLocks noGrp="1"/>
          </p:cNvSpPr>
          <p:nvPr/>
        </p:nvSpPr>
        <p:spPr>
          <a:xfrm>
            <a:off x="723900" y="285750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200" b="1" dirty="0">
                <a:solidFill>
                  <a:srgbClr val="0B1F33"/>
                </a:solidFill>
                <a:latin typeface="Aptos"/>
              </a:rPr>
              <a:t>Pilot</a:t>
            </a:r>
            <a:endParaRPr lang="en-IN"/>
          </a:p>
        </p:txBody>
      </p:sp>
      <p:sp>
        <p:nvSpPr>
          <p:cNvPr id="7" name="pricing sub"/>
          <p:cNvSpPr>
            <a:spLocks noGrp="1"/>
          </p:cNvSpPr>
          <p:nvPr/>
        </p:nvSpPr>
        <p:spPr>
          <a:xfrm>
            <a:off x="723900" y="327660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Prove value safely</a:t>
            </a:r>
            <a:endParaRPr lang="en-IN"/>
          </a:p>
        </p:txBody>
      </p:sp>
      <p:sp>
        <p:nvSpPr>
          <p:cNvPr id="8" name="pricing body"/>
          <p:cNvSpPr>
            <a:spLocks noGrp="1"/>
          </p:cNvSpPr>
          <p:nvPr/>
        </p:nvSpPr>
        <p:spPr>
          <a:xfrm>
            <a:off x="723900" y="37719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500" b="0" dirty="0">
                <a:solidFill>
                  <a:srgbClr val="405368"/>
                </a:solidFill>
                <a:latin typeface="Aptos"/>
              </a:rPr>
              <a:t>Fixed implementation fee for a controlled shadow-mode pilot, workflow configuration and success metrics.</a:t>
            </a:r>
            <a:endParaRPr lang="en-IN"/>
          </a:p>
        </p:txBody>
      </p:sp>
      <p:sp>
        <p:nvSpPr>
          <p:cNvPr id="9" name="pricing price"/>
          <p:cNvSpPr>
            <a:spLocks noGrp="1"/>
          </p:cNvSpPr>
          <p:nvPr/>
        </p:nvSpPr>
        <p:spPr>
          <a:xfrm>
            <a:off x="723900" y="47625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1" dirty="0">
                <a:solidFill>
                  <a:srgbClr val="0B1F33"/>
                </a:solidFill>
                <a:latin typeface="Aptos"/>
              </a:rPr>
              <a:t>One-time setup</a:t>
            </a:r>
            <a:endParaRPr lang="en-IN"/>
          </a:p>
        </p:txBody>
      </p:sp>
      <p:sp>
        <p:nvSpPr>
          <p:cNvPr id="10" name="pricing panel"/>
          <p:cNvSpPr>
            <a:spLocks noGrp="1"/>
          </p:cNvSpPr>
          <p:nvPr/>
        </p:nvSpPr>
        <p:spPr>
          <a:xfrm>
            <a:off x="4248150" y="2524125"/>
            <a:ext cx="3333750" cy="2724150"/>
          </a:xfrm>
          <a:prstGeom prst="roundRect">
            <a:avLst/>
          </a:prstGeom>
          <a:solidFill>
            <a:srgbClr val="F0F5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pricing title"/>
          <p:cNvSpPr>
            <a:spLocks noGrp="1"/>
          </p:cNvSpPr>
          <p:nvPr/>
        </p:nvSpPr>
        <p:spPr>
          <a:xfrm>
            <a:off x="4514850" y="285750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200" b="1" dirty="0">
                <a:solidFill>
                  <a:srgbClr val="0B1F33"/>
                </a:solidFill>
                <a:latin typeface="Aptos"/>
              </a:rPr>
              <a:t>Platform</a:t>
            </a:r>
            <a:endParaRPr lang="en-IN"/>
          </a:p>
        </p:txBody>
      </p:sp>
      <p:sp>
        <p:nvSpPr>
          <p:cNvPr id="12" name="pricing sub"/>
          <p:cNvSpPr>
            <a:spLocks noGrp="1"/>
          </p:cNvSpPr>
          <p:nvPr/>
        </p:nvSpPr>
        <p:spPr>
          <a:xfrm>
            <a:off x="4514850" y="327660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Run the lender desk</a:t>
            </a:r>
            <a:endParaRPr lang="en-IN"/>
          </a:p>
        </p:txBody>
      </p:sp>
      <p:sp>
        <p:nvSpPr>
          <p:cNvPr id="13" name="pricing body"/>
          <p:cNvSpPr>
            <a:spLocks noGrp="1"/>
          </p:cNvSpPr>
          <p:nvPr/>
        </p:nvSpPr>
        <p:spPr>
          <a:xfrm>
            <a:off x="4514850" y="37719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500" b="0" dirty="0">
                <a:solidFill>
                  <a:srgbClr val="405368"/>
                </a:solidFill>
                <a:latin typeface="Aptos"/>
              </a:rPr>
              <a:t>Recurring subscription for manual-review seats, governance controls, monitoring and multilingual borrower assistance.</a:t>
            </a:r>
            <a:endParaRPr lang="en-IN"/>
          </a:p>
        </p:txBody>
      </p:sp>
      <p:sp>
        <p:nvSpPr>
          <p:cNvPr id="14" name="pricing price"/>
          <p:cNvSpPr>
            <a:spLocks noGrp="1"/>
          </p:cNvSpPr>
          <p:nvPr/>
        </p:nvSpPr>
        <p:spPr>
          <a:xfrm>
            <a:off x="4514850" y="47625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1" dirty="0">
                <a:solidFill>
                  <a:srgbClr val="0B1F33"/>
                </a:solidFill>
                <a:latin typeface="Aptos"/>
              </a:rPr>
              <a:t>Monthly / annual</a:t>
            </a:r>
            <a:endParaRPr lang="en-IN"/>
          </a:p>
        </p:txBody>
      </p:sp>
      <p:sp>
        <p:nvSpPr>
          <p:cNvPr id="15" name="pricing panel"/>
          <p:cNvSpPr>
            <a:spLocks noGrp="1"/>
          </p:cNvSpPr>
          <p:nvPr/>
        </p:nvSpPr>
        <p:spPr>
          <a:xfrm>
            <a:off x="8039100" y="2524125"/>
            <a:ext cx="3333750" cy="2724150"/>
          </a:xfrm>
          <a:prstGeom prst="roundRect">
            <a:avLst/>
          </a:prstGeom>
          <a:solidFill>
            <a:srgbClr val="EAF7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pricing title"/>
          <p:cNvSpPr>
            <a:spLocks noGrp="1"/>
          </p:cNvSpPr>
          <p:nvPr/>
        </p:nvSpPr>
        <p:spPr>
          <a:xfrm>
            <a:off x="8305800" y="285750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200" b="1" dirty="0">
                <a:solidFill>
                  <a:srgbClr val="0B1F33"/>
                </a:solidFill>
                <a:latin typeface="Aptos"/>
              </a:rPr>
              <a:t>Scale</a:t>
            </a:r>
            <a:endParaRPr lang="en-IN"/>
          </a:p>
        </p:txBody>
      </p:sp>
      <p:sp>
        <p:nvSpPr>
          <p:cNvPr id="17" name="pricing sub"/>
          <p:cNvSpPr>
            <a:spLocks noGrp="1"/>
          </p:cNvSpPr>
          <p:nvPr/>
        </p:nvSpPr>
        <p:spPr>
          <a:xfrm>
            <a:off x="8305800" y="327660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Integrate &amp; expand</a:t>
            </a:r>
            <a:endParaRPr lang="en-IN"/>
          </a:p>
        </p:txBody>
      </p:sp>
      <p:sp>
        <p:nvSpPr>
          <p:cNvPr id="18" name="pricing body"/>
          <p:cNvSpPr>
            <a:spLocks noGrp="1"/>
          </p:cNvSpPr>
          <p:nvPr/>
        </p:nvSpPr>
        <p:spPr>
          <a:xfrm>
            <a:off x="8305800" y="37719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500" b="0" dirty="0">
                <a:solidFill>
                  <a:srgbClr val="405368"/>
                </a:solidFill>
                <a:latin typeface="Aptos"/>
              </a:rPr>
              <a:t>Usage-based fee per review or application plus enterprise pricing for consent, data and deployment integrations.</a:t>
            </a:r>
            <a:endParaRPr lang="en-IN"/>
          </a:p>
        </p:txBody>
      </p:sp>
      <p:sp>
        <p:nvSpPr>
          <p:cNvPr id="19" name="pricing price"/>
          <p:cNvSpPr>
            <a:spLocks noGrp="1"/>
          </p:cNvSpPr>
          <p:nvPr/>
        </p:nvSpPr>
        <p:spPr>
          <a:xfrm>
            <a:off x="8305800" y="47625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400" b="1" dirty="0">
                <a:solidFill>
                  <a:srgbClr val="0B1F33"/>
                </a:solidFill>
                <a:latin typeface="Aptos"/>
              </a:rPr>
              <a:t>Usage + enterprise</a:t>
            </a:r>
            <a:endParaRPr lang="en-IN"/>
          </a:p>
        </p:txBody>
      </p:sp>
      <p:sp>
        <p:nvSpPr>
          <p:cNvPr id="20" name="close"/>
          <p:cNvSpPr>
            <a:spLocks noGrp="1"/>
          </p:cNvSpPr>
          <p:nvPr/>
        </p:nvSpPr>
        <p:spPr>
          <a:xfrm>
            <a:off x="457200" y="5657850"/>
            <a:ext cx="10668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700" b="1" dirty="0">
                <a:solidFill>
                  <a:srgbClr val="0B1F33"/>
                </a:solidFill>
                <a:latin typeface="Aptos"/>
              </a:rPr>
              <a:t>Commercial principle: help lenders make better human decisions while protecting borrower consent and transparency.</a:t>
            </a:r>
            <a:endParaRPr lang="en-IN"/>
          </a:p>
        </p:txBody>
      </p:sp>
      <p:sp>
        <p:nvSpPr>
          <p:cNvPr id="21" name="source"/>
          <p:cNvSpPr>
            <a:spLocks noGrp="1"/>
          </p:cNvSpPr>
          <p:nvPr/>
        </p:nvSpPr>
        <p:spPr>
          <a:xfrm>
            <a:off x="457200" y="6457950"/>
            <a:ext cx="10096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900" b="0" dirty="0">
                <a:solidFill>
                  <a:srgbClr val="6D7A87"/>
                </a:solidFill>
                <a:latin typeface="Aptos"/>
              </a:rPr>
              <a:t>Proposed business model for a future regulated-partner deployment; not a live commercial offering.</a:t>
            </a:r>
            <a:endParaRPr lang="en-IN"/>
          </a:p>
        </p:txBody>
      </p:sp>
      <p:sp>
        <p:nvSpPr>
          <p:cNvPr id="22" name="slide number"/>
          <p:cNvSpPr>
            <a:spLocks noGrp="1"/>
          </p:cNvSpPr>
          <p:nvPr/>
        </p:nvSpPr>
        <p:spPr>
          <a:xfrm>
            <a:off x="11334750" y="6438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000" b="1" dirty="0">
                <a:solidFill>
                  <a:srgbClr val="6D7A87"/>
                </a:solidFill>
                <a:latin typeface="Aptos"/>
              </a:rPr>
              <a:t>5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1F33"/>
      </a:dk1>
      <a:lt1>
        <a:srgbClr val="FFFFFF"/>
      </a:lt1>
      <a:dk2>
        <a:srgbClr val="405368"/>
      </a:dk2>
      <a:lt2>
        <a:srgbClr val="F7FBFA"/>
      </a:lt2>
      <a:accent1>
        <a:srgbClr val="00A878"/>
      </a:accent1>
      <a:accent2>
        <a:srgbClr val="6DD6B0"/>
      </a:accent2>
      <a:accent3>
        <a:srgbClr val="3D8DFF"/>
      </a:accent3>
      <a:accent4>
        <a:srgbClr val="0B1F33"/>
      </a:accent4>
      <a:accent5>
        <a:srgbClr val="EAF7F1"/>
      </a:accent5>
      <a:accent6>
        <a:srgbClr val="F0F5F7"/>
      </a:accent6>
      <a:hlink>
        <a:srgbClr val="3D8DFF"/>
      </a:hlink>
      <a:folHlink>
        <a:srgbClr val="6D7A87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l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dk1"/>
          </a:solidFill>
          <a:prstDash val="solid"/>
        </a:ln>
        <a:ln w="12700">
          <a:solidFill>
            <a:schemeClr val="l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varun gupta</cp:lastModifiedBy>
  <cp:revision>1</cp:revision>
  <dcterms:modified xsi:type="dcterms:W3CDTF">2026-08-31T08:17:09Z</dcterms:modified>
</cp:coreProperties>
</file>